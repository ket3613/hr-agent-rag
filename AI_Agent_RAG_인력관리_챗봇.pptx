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1.png"/><Relationship Id="rId6" Type="http://schemas.openxmlformats.org/officeDocument/2006/relationships/image" Target="../media/image-3-2.png"/><Relationship Id="rId7" Type="http://schemas.openxmlformats.org/officeDocument/2006/relationships/image" Target="../media/image-3-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  |   SIDE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사내 인력관리 챗봇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규정·복지 문의를 자동으로 해결하는 대화형 AI 에이전트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3566160"/>
            <a:ext cx="1005840" cy="1005840"/>
          </a:xfrm>
          <a:prstGeom prst="roundRect">
            <a:avLst>
              <a:gd name="adj" fmla="val 9091"/>
            </a:avLst>
          </a:prstGeom>
          <a:solidFill>
            <a:srgbClr val="FF9900"/>
          </a:solidFill>
          <a:ln/>
        </p:spPr>
      </p:sp>
      <p:pic>
        <p:nvPicPr>
          <p:cNvPr id="6" name="Image 0" descr="assets/Fa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0" y="38176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단계  |  Concept &amp; Architecture Design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인력관리 문의 대응 과정에서 발생하는 비효율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80467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78508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232F3E"/>
          </a:solidFill>
          <a:ln/>
        </p:spPr>
      </p:sp>
      <p:pic>
        <p:nvPicPr>
          <p:cNvPr id="7" name="Image 0" descr="assets/FaExclamationTriang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89372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916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반복되는 규정 문의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02082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휴가, 복지, 근태 규정 등 유사한 질문이 HR팀에 매일 반복적으로 접수됨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80467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784348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232F3E"/>
          </a:solidFill>
          <a:ln/>
        </p:spPr>
      </p:sp>
      <p:pic>
        <p:nvPicPr>
          <p:cNvPr id="12" name="Image 1" descr="assets/Fa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89956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6974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느린 응답 속도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554480" y="302666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 확인 후 회신까지 대기 시간이 발생해 실시간 대응이 어려움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611880"/>
            <a:ext cx="80467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790188"/>
            <a:ext cx="512064" cy="512064"/>
          </a:xfrm>
          <a:prstGeom prst="roundRect">
            <a:avLst>
              <a:gd name="adj" fmla="val 12500"/>
            </a:avLst>
          </a:prstGeom>
          <a:solidFill>
            <a:srgbClr val="232F3E"/>
          </a:solidFill>
          <a:ln/>
        </p:spPr>
      </p:sp>
      <p:pic>
        <p:nvPicPr>
          <p:cNvPr id="17" name="Image 2" descr="assets/Fa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390540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7033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리소스 낭비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403250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4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단순·반복 문의 응대에 인력이 소모되어 핵심 업무 집중도가 저하됨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 인력관리 챗봇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솔루션 개요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기반 정확한 답변과 능동적 업무 처리를 결합한 사내 챗봇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361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B4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규정집·복지 정책 문서를 검색해 정확한 근거로 답변하고, 대화 맥락과 후속 액션까지 처리하는 AI 에이전트를 설계합니다.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972D3"/>
          </a:solidFill>
          <a:ln/>
        </p:spPr>
      </p:sp>
      <p:pic>
        <p:nvPicPr>
          <p:cNvPr id="7" name="Image 0" descr="assets/Fa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59689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48716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RAG로 최신 규정 문서에서 근거를 찾아 정확하게 답변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972D3"/>
          </a:solidFill>
          <a:ln/>
        </p:spPr>
      </p:sp>
      <p:pic>
        <p:nvPicPr>
          <p:cNvPr id="10" name="Image 1" descr="assets/Fa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2004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0906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Agent가 대화 맥락을 이해하고 후속 질문까지 자연스럽게 처리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72160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972D3"/>
          </a:solidFill>
          <a:ln/>
        </p:spPr>
      </p:sp>
      <p:pic>
        <p:nvPicPr>
          <p:cNvPr id="13" name="Image 2" descr="assets/Fa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80390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69417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시 사내 시스템(휴가·근태 등)과 연동해 실제 업무까지 수행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943600" y="1554480"/>
            <a:ext cx="2743200" cy="27432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03720" y="187452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pic>
        <p:nvPicPr>
          <p:cNvPr id="17" name="Image 3" descr="assets/Fa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20802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436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172200" y="3246120"/>
            <a:ext cx="594360" cy="594360"/>
          </a:xfrm>
          <a:prstGeom prst="roundRect">
            <a:avLst>
              <a:gd name="adj" fmla="val 10769"/>
            </a:avLst>
          </a:prstGeom>
          <a:solidFill>
            <a:srgbClr val="0972D3"/>
          </a:solidFill>
          <a:ln/>
        </p:spPr>
      </p:sp>
      <p:pic>
        <p:nvPicPr>
          <p:cNvPr id="20" name="Image 4" descr="assets/FaSear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790" y="3394710"/>
            <a:ext cx="297180" cy="2971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62472" y="38587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검색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7022592" y="3246120"/>
            <a:ext cx="594360" cy="594360"/>
          </a:xfrm>
          <a:prstGeom prst="roundRect">
            <a:avLst>
              <a:gd name="adj" fmla="val 10769"/>
            </a:avLst>
          </a:prstGeom>
          <a:solidFill>
            <a:srgbClr val="0972D3"/>
          </a:solidFill>
          <a:ln/>
        </p:spPr>
      </p:sp>
      <p:pic>
        <p:nvPicPr>
          <p:cNvPr id="23" name="Image 5" descr="assets/FaComment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1182" y="3394710"/>
            <a:ext cx="297180" cy="2971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03720" y="38587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관리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7863840" y="3246120"/>
            <a:ext cx="594360" cy="594360"/>
          </a:xfrm>
          <a:prstGeom prst="roundRect">
            <a:avLst>
              <a:gd name="adj" fmla="val 10769"/>
            </a:avLst>
          </a:prstGeom>
          <a:solidFill>
            <a:srgbClr val="0972D3"/>
          </a:solidFill>
          <a:ln/>
        </p:spPr>
      </p:sp>
      <p:pic>
        <p:nvPicPr>
          <p:cNvPr id="26" name="Image 6" descr="assets/FaLin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2430" y="3394710"/>
            <a:ext cx="297180" cy="2971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726680" y="38587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</a:t>
            </a:r>
            <a:endParaRPr lang="en-US" sz="950" dirty="0"/>
          </a:p>
        </p:txBody>
      </p:sp>
      <p:sp>
        <p:nvSpPr>
          <p:cNvPr id="28" name="Text 19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 인력관리 챗봇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Agent + RAG인가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챗봇 대비 명확한 차별점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2834640"/>
        </p:xfrm>
        <a:graphic>
          <a:graphicData uri="http://schemas.openxmlformats.org/drawingml/2006/table">
            <a:tbl>
              <a:tblPr/>
              <a:tblGrid>
                <a:gridCol w="1828800"/>
                <a:gridCol w="1965960"/>
                <a:gridCol w="1965960"/>
                <a:gridCol w="2286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비교 항목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FAQ 챗봇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 챗봇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32F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+ RAG (본 프로젝트)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최신 규정 반영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4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미리 정의된 답변만 가능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4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 업데이트만으로 반영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 업데이트만으로 반영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C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대화 맥락 유지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4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단발성 질문·답변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4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제한적 (단일 턴 중심)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멀티턴 대화 및 추론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C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실제 액션 수행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4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4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 (정보 제공만)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사내 시스템 연동 및 처리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C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확장성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4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규칙 추가 시마다 재작업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45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 추가로 확장 용이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 + 도구(Tool) 확장 가능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C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 인력관리 챗봇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입력부터 근거 기반 응답까지의 처리 흐름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1488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D5DBDB"/>
            </a:solidFill>
            <a:prstDash val="solid"/>
          </a:ln>
        </p:spPr>
      </p:sp>
      <p:pic>
        <p:nvPicPr>
          <p:cNvPr id="6" name="Image 0" descr="assets/Fa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860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880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45920" y="2606040"/>
            <a:ext cx="36576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011680" y="182880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232F3E"/>
          </a:solidFill>
          <a:ln/>
        </p:spPr>
      </p:sp>
      <p:pic>
        <p:nvPicPr>
          <p:cNvPr id="10" name="Image 1" descr="assets/FaRobo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0116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(오케스트레이션)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840480" y="2331720"/>
            <a:ext cx="36576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840480" y="2880360"/>
            <a:ext cx="36576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06240" y="141732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D5DBDB"/>
            </a:solidFill>
            <a:prstDash val="solid"/>
          </a:ln>
        </p:spPr>
      </p:sp>
      <p:pic>
        <p:nvPicPr>
          <p:cNvPr id="15" name="Image 2" descr="assets/Fa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92040" y="141732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검색</a:t>
            </a:r>
            <a:endParaRPr lang="en-US" sz="83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· 규정/복지 문서</a:t>
            </a:r>
            <a:endParaRPr lang="en-US" sz="830" dirty="0"/>
          </a:p>
        </p:txBody>
      </p:sp>
      <p:sp>
        <p:nvSpPr>
          <p:cNvPr id="17" name="Shape 12"/>
          <p:cNvSpPr/>
          <p:nvPr/>
        </p:nvSpPr>
        <p:spPr>
          <a:xfrm>
            <a:off x="4206240" y="269748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D5DBDB"/>
            </a:solidFill>
            <a:prstDash val="solid"/>
          </a:ln>
        </p:spPr>
      </p:sp>
      <p:pic>
        <p:nvPicPr>
          <p:cNvPr id="18" name="Image 3" descr="assets/FaCog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9260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92040" y="26974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API 연동</a:t>
            </a:r>
            <a:endParaRPr lang="en-US" sz="83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휴가 · 근태 시스템</a:t>
            </a:r>
            <a:endParaRPr lang="en-US" sz="830" dirty="0"/>
          </a:p>
        </p:txBody>
      </p:sp>
      <p:sp>
        <p:nvSpPr>
          <p:cNvPr id="20" name="Shape 14"/>
          <p:cNvSpPr/>
          <p:nvPr/>
        </p:nvSpPr>
        <p:spPr>
          <a:xfrm>
            <a:off x="6309360" y="2606040"/>
            <a:ext cx="365760" cy="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6675120" y="21488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/>
        </p:spPr>
      </p:sp>
      <p:pic>
        <p:nvPicPr>
          <p:cNvPr id="22" name="Image 4" descr="assets/FaFileAl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226771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75120" y="2816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 생성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(출처 포함)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Agent가 질문 유형에 따라 RAG 검색과 사내 API 호출 중 필요한 경로를 판단해 실행합니다.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 인력관리 챗봇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(예정)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레이어별 계획 중인 기술 구성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013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32F3E"/>
          </a:solidFill>
          <a:ln/>
        </p:spPr>
      </p:sp>
      <p:pic>
        <p:nvPicPr>
          <p:cNvPr id="7" name="Image 0" descr="assets/Fa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3" y="190835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71600" y="20756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TypeScript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60020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3008" y="18013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32F3E"/>
          </a:solidFill>
          <a:ln/>
        </p:spPr>
      </p:sp>
      <p:pic>
        <p:nvPicPr>
          <p:cNvPr id="12" name="Image 1" descr="assets/Fa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993" y="190835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114800" y="20756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60020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36208" y="18013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32F3E"/>
          </a:solidFill>
          <a:ln/>
        </p:spPr>
      </p:sp>
      <p:pic>
        <p:nvPicPr>
          <p:cNvPr id="17" name="Image 2" descr="assets/Fa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193" y="1908353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783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/ Orchestration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858000" y="20756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API, LangGraph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20040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9808" y="34015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32F3E"/>
          </a:solidFill>
          <a:ln/>
        </p:spPr>
      </p:sp>
      <p:pic>
        <p:nvPicPr>
          <p:cNvPr id="22" name="Image 3" descr="assets/Fa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3" y="3508553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371600" y="36758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 / Pinecone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91840" y="320040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93008" y="34015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32F3E"/>
          </a:solidFill>
          <a:ln/>
        </p:spPr>
      </p:sp>
      <p:pic>
        <p:nvPicPr>
          <p:cNvPr id="27" name="Image 4" descr="assets/FaFileA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993" y="3508553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1480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파이프라인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114800" y="36758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생성 · 청킹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35040" y="3200400"/>
            <a:ext cx="25603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36208" y="34015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232F3E"/>
          </a:solidFill>
          <a:ln/>
        </p:spPr>
      </p:sp>
      <p:pic>
        <p:nvPicPr>
          <p:cNvPr id="32" name="Image 5" descr="assets/FaClou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193" y="3508553"/>
            <a:ext cx="261518" cy="26151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3383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858000" y="36758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AWS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 인력관리 챗봇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동작 흐름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입력부터 응답까지 5단계 처리 과정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4420" y="2377440"/>
            <a:ext cx="6995160" cy="0"/>
          </a:xfrm>
          <a:prstGeom prst="line">
            <a:avLst/>
          </a:prstGeom>
          <a:noFill/>
          <a:ln w="19050">
            <a:solidFill>
              <a:srgbClr val="D5DB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8882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232F3E"/>
          </a:solidFill>
          <a:ln/>
        </p:spPr>
      </p:sp>
      <p:pic>
        <p:nvPicPr>
          <p:cNvPr id="7" name="Image 0" descr="assets/Fa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18313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1879092"/>
            <a:ext cx="274320" cy="274320"/>
          </a:xfrm>
          <a:prstGeom prst="rect">
            <a:avLst/>
          </a:prstGeom>
          <a:solidFill>
            <a:srgbClr val="0972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" y="29032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입력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0" y="32232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자연어로 질문 입력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28900" y="198882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232F3E"/>
          </a:solidFill>
          <a:ln/>
        </p:spPr>
      </p:sp>
      <p:pic>
        <p:nvPicPr>
          <p:cNvPr id="12" name="Image 1" descr="assets/Fa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210" y="218313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68396" y="1879092"/>
            <a:ext cx="274320" cy="274320"/>
          </a:xfrm>
          <a:prstGeom prst="rect">
            <a:avLst/>
          </a:prstGeom>
          <a:solidFill>
            <a:srgbClr val="0972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034540" y="29032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 파악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943100" y="32232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조회 vs 액션 요청 분류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0" y="198882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232F3E"/>
          </a:solidFill>
          <a:ln/>
        </p:spPr>
      </p:sp>
      <p:pic>
        <p:nvPicPr>
          <p:cNvPr id="17" name="Image 2" descr="assets/Fa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10" y="218313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11496" y="1879092"/>
            <a:ext cx="274320" cy="274320"/>
          </a:xfrm>
          <a:prstGeom prst="rect">
            <a:avLst/>
          </a:prstGeom>
          <a:solidFill>
            <a:srgbClr val="0972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977640" y="29032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검색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886200" y="32232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DB에서 관련 문서 검색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515100" y="198882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232F3E"/>
          </a:solidFill>
          <a:ln/>
        </p:spPr>
      </p:sp>
      <p:pic>
        <p:nvPicPr>
          <p:cNvPr id="22" name="Image 3" descr="assets/FaCo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2183130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54596" y="1879092"/>
            <a:ext cx="274320" cy="274320"/>
          </a:xfrm>
          <a:prstGeom prst="rect">
            <a:avLst/>
          </a:prstGeom>
          <a:solidFill>
            <a:srgbClr val="0972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920740" y="29032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답변/액션 생성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829300" y="32232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기반 답변 또는 API 호출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458200" y="1988820"/>
            <a:ext cx="777240" cy="777240"/>
          </a:xfrm>
          <a:prstGeom prst="roundRect">
            <a:avLst>
              <a:gd name="adj" fmla="val 10588"/>
            </a:avLst>
          </a:prstGeom>
          <a:solidFill>
            <a:srgbClr val="FF9900"/>
          </a:solidFill>
          <a:ln/>
        </p:spPr>
      </p:sp>
      <p:pic>
        <p:nvPicPr>
          <p:cNvPr id="27" name="Image 4" descr="assets/Fa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510" y="2183130"/>
            <a:ext cx="388620" cy="3886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97696" y="1879092"/>
            <a:ext cx="274320" cy="274320"/>
          </a:xfrm>
          <a:prstGeom prst="rect">
            <a:avLst/>
          </a:prstGeom>
          <a:solidFill>
            <a:srgbClr val="0972D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7863840" y="29032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전달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772400" y="32232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출처와 함께 답변, 후속 질문 대기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 인력관리 챗봇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신뢰와 실용성을 높이는 4가지 기능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013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972D3"/>
          </a:solidFill>
          <a:ln/>
        </p:spPr>
      </p:sp>
      <p:pic>
        <p:nvPicPr>
          <p:cNvPr id="7" name="Image 0" descr="assets/FaQuoteR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3" y="190835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 기반 답변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09397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답변에 근거 문서를 함께 표시해 신뢰도를 확보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64608" y="18013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972D3"/>
          </a:solidFill>
          <a:ln/>
        </p:spPr>
      </p:sp>
      <p:pic>
        <p:nvPicPr>
          <p:cNvPr id="12" name="Image 1" descr="assets/FaCommen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593" y="190835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783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멀티턴 대화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209397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대화 맥락을 유지해 자연스러운 후속 질문 처리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4015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972D3"/>
          </a:solidFill>
          <a:ln/>
        </p:spPr>
      </p:sp>
      <p:pic>
        <p:nvPicPr>
          <p:cNvPr id="17" name="Image 2" descr="assets/FaCalendar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3" y="3508553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액션 연동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71600" y="369417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휴가 신청, 근태 조회 등 실제 업무 처리까지 지원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63440" y="3200400"/>
            <a:ext cx="3931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64608" y="3401568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0972D3"/>
          </a:solidFill>
          <a:ln/>
        </p:spPr>
      </p:sp>
      <p:pic>
        <p:nvPicPr>
          <p:cNvPr id="22" name="Image 3" descr="assets/FaShieldA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593" y="3508553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383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권한별 응답 제어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694176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4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직급·부서에 따라 정보 접근 범위를 다르게 관리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 인력관리 챗봇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 / 목표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운영 시 달성을 목표로 하는 핵심 지표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2194560"/>
          </a:xfrm>
          <a:prstGeom prst="roundRect">
            <a:avLst>
              <a:gd name="adj" fmla="val 2500"/>
            </a:avLst>
          </a:prstGeom>
          <a:solidFill>
            <a:srgbClr val="2F3E5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규정 문의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해결 목표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468880" cy="2194560"/>
          </a:xfrm>
          <a:prstGeom prst="roundRect">
            <a:avLst>
              <a:gd name="adj" fmla="val 2500"/>
            </a:avLst>
          </a:prstGeom>
          <a:solidFill>
            <a:srgbClr val="2F3E52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28346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제약 없는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응대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468880" cy="2194560"/>
          </a:xfrm>
          <a:prstGeom prst="roundRect">
            <a:avLst>
              <a:gd name="adj" fmla="val 2500"/>
            </a:avLst>
          </a:prstGeom>
          <a:solidFill>
            <a:srgbClr val="2F3E5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1건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28346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업데이트만으로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답변 최신화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 인력관리 챗봇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 구상 단계 이후 진행 계획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046720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377440"/>
            <a:ext cx="6766560" cy="0"/>
          </a:xfrm>
          <a:prstGeom prst="line">
            <a:avLst/>
          </a:prstGeom>
          <a:noFill/>
          <a:ln w="19050">
            <a:solidFill>
              <a:srgbClr val="D5DBD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7" name="Image 0" descr="assets/FaLightbulb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972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3716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&amp; 요구사항 정의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" y="34015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시나리오, 문서 범위, 성공 지표 설정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2232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12" name="Image 1" descr="assets/FaFileAl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1945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512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972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63652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구축 &amp; RAG 파이프라인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545080" y="34015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규정/복지 문서 정리, 임베딩·검색 구현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82168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17" name="Image 2" descr="assets/FaRobo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560" y="21945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6448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972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13588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프로토타입 개발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044440" y="34015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 분류, 도구 연동, 내부 테스트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321040" y="20116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22" name="Image 3" descr="assets/FaChartLin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194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972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63524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파일럿 운영 &amp; 고도화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543800" y="340156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실사용 피드백 반영, 정확도·응답속도 개선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7200" y="4892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 인력관리 챗봇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503920" y="4892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82296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/>
        </p:spPr>
      </p:sp>
      <p:pic>
        <p:nvPicPr>
          <p:cNvPr id="3" name="Image 0" descr="assets/FaHandsh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11658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3035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0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+ RAG 기반 사내 인력관리 챗봇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 github.com/your-username/hr-agent-rag  (링크 업데이트 예정)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+ RAG 기반 사내 인력관리 챗봇</dc:title>
  <dc:subject>PptxGenJS Presentation</dc:subject>
  <dc:creator>Portfolio Project</dc:creator>
  <cp:lastModifiedBy>Portfolio Project</cp:lastModifiedBy>
  <cp:revision>1</cp:revision>
  <dcterms:created xsi:type="dcterms:W3CDTF">2026-07-07T01:09:49Z</dcterms:created>
  <dcterms:modified xsi:type="dcterms:W3CDTF">2026-07-07T01:09:49Z</dcterms:modified>
</cp:coreProperties>
</file>